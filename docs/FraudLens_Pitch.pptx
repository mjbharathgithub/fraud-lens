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17f2db52-5599-57bf-5152-f9b9090ad576}">
          <p14:sldIdLst>
            <p14:sldId id="256"/>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366B"/>
                </a:solidFill>
                <a:latin typeface="+mn-lt"/>
              </a:defRPr>
            </a:pPr>
            <a:r>
              <a:rPr sz="1300" b="0" i="0" u="none" strike="noStrike">
                <a:solidFill>
                  <a:srgbClr val="0D366B"/>
                </a:solidFill>
                <a:latin typeface="+mn-lt"/>
              </a:rPr>
              <a:t>Real frauds among the 200 alerts reviewed (day 2)</a:t>
            </a:r>
          </a:p>
        </c:rich>
      </c:tx>
      <c:layout/>
      <c:overlay val="0"/>
    </c:title>
    <c:autoTitleDeleted val="0"/>
    <c:plotArea>
      <c:layout/>
      <c:barChart>
        <c:barDir val="bar"/>
        <c:grouping val="clustered"/>
        <c:varyColors val="0"/>
        <c:ser>
          <c:idx val="0"/>
          <c:order val="0"/>
          <c:tx>
            <c:strRef>
              <c:f>Sheet1!$B$1</c:f>
              <c:strCache>
                <c:ptCount val="1"/>
                <c:pt idx="0">
                  <c:v>Real frauds among 200 alerts</c:v>
                </c:pt>
              </c:strCache>
            </c:strRef>
          </c:tx>
          <c:spPr>
            <a:solidFill>
              <a:srgbClr val="2A78D6"/>
            </a:solidFill>
            <a:effectLst/>
          </c:spPr>
          <c:invertIfNegative val="0"/>
          <c:dLbls>
            <c:numFmt formatCode="General" sourceLinked="0"/>
            <c:txPr>
              <a:bodyPr/>
              <a:lstStyle/>
              <a:p>
                <a:pPr>
                  <a:defRPr b="1" i="0" strike="noStrike" sz="1300" u="none">
                    <a:solidFill>
                      <a:srgbClr val="0B1B33"/>
                    </a:solidFill>
                    <a:latin typeface="+mn-lt"/>
                  </a:defRPr>
                </a:pPr>
              </a:p>
            </c:txPr>
            <c:showLegendKey val="0"/>
            <c:showVal val="1"/>
            <c:showCatName val="0"/>
            <c:showSerName val="0"/>
            <c:showPercent val="0"/>
            <c:showBubbleSize val="0"/>
            <c:showLeaderLines val="0"/>
          </c:dLbls>
          <c:cat>
            <c:multiLvlStrRef>
              <c:f>Sheet1!$A$2:$A$5</c:f>
              <c:multiLvlStrCache>
                <c:ptCount val="4"/>
                <c:lvl>
                  <c:pt idx="0">
                    <c:v>Largest amounts</c:v>
                  </c:pt>
                  <c:pt idx="1">
                    <c:v>At random</c:v>
                  </c:pt>
                  <c:pt idx="2">
                    <c:v>Logistic baseline</c:v>
                  </c:pt>
                  <c:pt idx="3">
                    <c:v>FraudLens</c:v>
                  </c:pt>
                </c:lvl>
              </c:multiLvlStrCache>
            </c:multiLvlStrRef>
          </c:cat>
          <c:val>
            <c:numRef>
              <c:f>Sheet1!$B$2:$B$5</c:f>
              <c:numCache>
                <c:formatCode>General</c:formatCode>
                <c:ptCount val="4"/>
                <c:pt idx="0">
                  <c:v>0</c:v>
                </c:pt>
                <c:pt idx="1">
                  <c:v>0.3</c:v>
                </c:pt>
                <c:pt idx="2">
                  <c:v>141</c:v>
                </c:pt>
                <c:pt idx="3">
                  <c:v>154</c:v>
                </c:pt>
              </c:numCache>
            </c:numRef>
          </c:val>
        </c:ser>
        <c:dLbls>
          <c:numFmt formatCode="General" sourceLinked="0"/>
          <c:txPr>
            <a:bodyPr/>
            <a:lstStyle/>
            <a:p>
              <a:pPr>
                <a:defRPr b="1" i="0" strike="noStrike" sz="1300" u="none">
                  <a:solidFill>
                    <a:srgbClr val="0B1B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B1B33"/>
                </a:solidFill>
                <a:latin typeface="+mn-lt"/>
              </a:defRPr>
            </a:pPr>
            <a:endParaRPr lang="en-US"/>
          </a:p>
        </c:txPr>
        <c:crossAx val="2094734552"/>
        <c:crosses val="autoZero"/>
        <c:auto val="1"/>
        <c:lblAlgn val="ctr"/>
        <c:noMultiLvlLbl val="1"/>
      </c:catAx>
      <c:valAx>
        <c:axId val="2094734552"/>
        <c:scaling>
          <c:orientation val="minMax"/>
          <c:max val="20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40 seconds). Our client is a card issuer. Around 140 thousand transactions a day, about 200 of them fraud, and a team that can review 200 alerts. The first trap: a system that says 'never fraud' is 99.8 percent accurate and useless, so we never use accuracy. The second: the natural instinct, review the biggest transactions, found zero frauds on our test day, because over a third of frauds are one euro or less. That is card testing. So the question is not 'can we build a model', it is 'how should these 200 reviews be spent'.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80 seconds, including a 30-second live demo). FraudLens scores every transaction and hands the team the 200 riskiest. We tested it the way it would be used: trained on day one, then asked for the day-two queue with no knowledge of day two. 154 of its 200 alerts were real fraud. That is about three in four, and 77 percent of all the fraud that day. On another day we would expect precision between 66 and 85 percent. Each alert carries its three reasons, a recommended action and a drafted note, and nothing happens until an analyst approves. On the traps: the file has over a thousand duplicate rows, which we remove before splitting. And we ran the classic mistake on purpose: SMOTE before the split reports a PR-AUC of 0.9999. Done correctly it is 0.76. LIVE DEMO now: open the Live scoring tab, pick one from today's queue, show the score, rank, reasons and drafted note; then pick a random transaction to show 'no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(about 60 seconds). The business value: the same team, the same 200 reviews, catching 154 frauds a day instead of roughly none. The risk band tells an analyst how hard to look: 97 percent of CRITICAL alerts were fraud. Two findings for the client. First, hiring more analysts would not help: 100 extra reviews find only 5 more frauds, so the next gain comes from better data. Second, 20 of our 46 false alarms are one repeating 77-cent pattern. One decision on it frees a tenth of the team's day, or uncovers fraud nobody reported. It is safe to adopt: the agent only drafts, a human approves, and everything is logged. Honest limits: two days of data from 2013, so monitoring comes first.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10058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5F6B7A"/>
                </a:solidFill>
              </a:rPr>
              <a:t>FraudLens  ·  Maverick Mini Hackathon  ·  Project 5</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100584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9FB0C6"/>
                </a:solidFill>
              </a:rPr>
              <a:t>FraudLens  ·  Maverick Mini Hackathon  ·  Project 5</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1005840"/>
          </a:xfrm>
          <a:prstGeom prst="rect">
            <a:avLst/>
          </a:prstGeom>
          <a:noFill/>
          <a:ln/>
        </p:spPr>
        <p:txBody>
          <a:bodyPr wrap="square" lIns="0" tIns="0" rIns="0" bIns="0" rtlCol="0" anchor="ctr"/>
          <a:lstStyle/>
          <a:p>
            <a:pPr algn="l" indent="0" marL="0">
              <a:buNone/>
            </a:pPr>
            <a:r>
              <a:rPr lang="en-US" sz="3000" b="1" dirty="0">
                <a:solidFill>
                  <a:schemeClr val="bg1"/>
                </a:solidFill>
              </a:rPr>
              <a:t>200 reviews a day, and the obvious way to spend them finds nothing</a:t>
            </a:r>
            <a:endParaRPr lang="en-US" sz="3000" dirty="0"/>
          </a:p>
        </p:txBody>
      </p:sp>
      <p:sp>
        <p:nvSpPr>
          <p:cNvPr id="3" name="Text 1"/>
          <p:cNvSpPr txBox="1"/>
          <p:nvPr/>
        </p:nvSpPr>
        <p:spPr>
          <a:xfrm>
            <a:off x="548640" y="1417320"/>
            <a:ext cx="6583680" cy="822960"/>
          </a:xfrm>
          <a:prstGeom prst="rect">
            <a:avLst/>
          </a:prstGeom>
          <a:noFill/>
          <a:ln/>
        </p:spPr>
        <p:txBody>
          <a:bodyPr wrap="square" lIns="0" tIns="0" rIns="0" bIns="0" rtlCol="0" anchor="t"/>
          <a:lstStyle/>
          <a:p>
            <a:pPr indent="0" marL="0">
              <a:buNone/>
            </a:pPr>
            <a:r>
              <a:rPr lang="en-US" sz="1800" dirty="0">
                <a:solidFill>
                  <a:srgbClr val="DCE6F4"/>
                </a:solidFill>
              </a:rPr>
              <a:t>A card issuer sees about 140,000 transactions a day. Roughly 200 are fraud. The fraud team can review 200 alerts.</a:t>
            </a:r>
            <a:endParaRPr lang="en-US" sz="1800" dirty="0"/>
          </a:p>
        </p:txBody>
      </p:sp>
      <p:sp>
        <p:nvSpPr>
          <p:cNvPr id="4" name="stat card 1"/>
          <p:cNvSpPr/>
          <p:nvPr/>
        </p:nvSpPr>
        <p:spPr>
          <a:xfrm>
            <a:off x="548640" y="2514600"/>
            <a:ext cx="3474720" cy="2514600"/>
          </a:xfrm>
          <a:prstGeom prst="roundRect">
            <a:avLst>
              <a:gd name="adj" fmla="val 4364"/>
            </a:avLst>
          </a:prstGeom>
          <a:solidFill>
            <a:srgbClr val="14294D"/>
          </a:solidFill>
          <a:ln w="12700">
            <a:solidFill>
              <a:srgbClr val="14294D"/>
            </a:solidFill>
            <a:prstDash val="solid"/>
          </a:ln>
        </p:spPr>
      </p:sp>
      <p:sp>
        <p:nvSpPr>
          <p:cNvPr id="5" name="Text 3"/>
          <p:cNvSpPr txBox="1"/>
          <p:nvPr/>
        </p:nvSpPr>
        <p:spPr>
          <a:xfrm>
            <a:off x="822960" y="2697480"/>
            <a:ext cx="2926080" cy="960120"/>
          </a:xfrm>
          <a:prstGeom prst="rect">
            <a:avLst/>
          </a:prstGeom>
          <a:noFill/>
          <a:ln/>
        </p:spPr>
        <p:txBody>
          <a:bodyPr wrap="square" lIns="0" tIns="0" rIns="0" bIns="0" rtlCol="0" anchor="t"/>
          <a:lstStyle/>
          <a:p>
            <a:pPr indent="0" marL="0">
              <a:buNone/>
            </a:pPr>
            <a:r>
              <a:rPr lang="en-US" sz="6000" b="1" dirty="0">
                <a:solidFill>
                  <a:srgbClr val="FFFFFF"/>
                </a:solidFill>
              </a:rPr>
              <a:t>99.83%</a:t>
            </a:r>
            <a:endParaRPr lang="en-US" sz="6000" dirty="0"/>
          </a:p>
        </p:txBody>
      </p:sp>
      <p:sp>
        <p:nvSpPr>
          <p:cNvPr id="6" name="Text 4"/>
          <p:cNvSpPr txBox="1"/>
          <p:nvPr/>
        </p:nvSpPr>
        <p:spPr>
          <a:xfrm>
            <a:off x="822960" y="3703320"/>
            <a:ext cx="2926080" cy="685800"/>
          </a:xfrm>
          <a:prstGeom prst="rect">
            <a:avLst/>
          </a:prstGeom>
          <a:noFill/>
          <a:ln/>
        </p:spPr>
        <p:txBody>
          <a:bodyPr wrap="square" lIns="0" tIns="0" rIns="0" bIns="0" rtlCol="0" anchor="t"/>
          <a:lstStyle/>
          <a:p>
            <a:pPr indent="0" marL="0">
              <a:buNone/>
            </a:pPr>
            <a:r>
              <a:rPr lang="en-US" sz="1600" dirty="0">
                <a:solidFill>
                  <a:srgbClr val="FFFFFF"/>
                </a:solidFill>
              </a:rPr>
              <a:t>accuracy of a system that answers "never fraud"</a:t>
            </a:r>
            <a:endParaRPr lang="en-US" sz="1600" dirty="0"/>
          </a:p>
        </p:txBody>
      </p:sp>
      <p:sp>
        <p:nvSpPr>
          <p:cNvPr id="7" name="Text 5"/>
          <p:cNvSpPr txBox="1"/>
          <p:nvPr/>
        </p:nvSpPr>
        <p:spPr>
          <a:xfrm>
            <a:off x="822960" y="4480560"/>
            <a:ext cx="2926080" cy="365760"/>
          </a:xfrm>
          <a:prstGeom prst="rect">
            <a:avLst/>
          </a:prstGeom>
          <a:noFill/>
          <a:ln/>
        </p:spPr>
        <p:txBody>
          <a:bodyPr wrap="square" lIns="0" tIns="0" rIns="0" bIns="0" rtlCol="0" anchor="t"/>
          <a:lstStyle/>
          <a:p>
            <a:pPr indent="0" marL="0">
              <a:buNone/>
            </a:pPr>
            <a:r>
              <a:rPr lang="en-US" sz="1300" i="1" dirty="0">
                <a:solidFill>
                  <a:srgbClr val="9FB0C6"/>
                </a:solidFill>
              </a:rPr>
              <a:t>and it catches 0 frauds</a:t>
            </a:r>
            <a:endParaRPr lang="en-US" sz="1300" dirty="0"/>
          </a:p>
        </p:txBody>
      </p:sp>
      <p:sp>
        <p:nvSpPr>
          <p:cNvPr id="8" name="stat card 2"/>
          <p:cNvSpPr/>
          <p:nvPr/>
        </p:nvSpPr>
        <p:spPr>
          <a:xfrm>
            <a:off x="4297680" y="2514600"/>
            <a:ext cx="3474720" cy="2514600"/>
          </a:xfrm>
          <a:prstGeom prst="roundRect">
            <a:avLst>
              <a:gd name="adj" fmla="val 4364"/>
            </a:avLst>
          </a:prstGeom>
          <a:solidFill>
            <a:srgbClr val="14294D"/>
          </a:solidFill>
          <a:ln w="12700">
            <a:solidFill>
              <a:srgbClr val="14294D"/>
            </a:solidFill>
            <a:prstDash val="solid"/>
          </a:ln>
        </p:spPr>
      </p:sp>
      <p:sp>
        <p:nvSpPr>
          <p:cNvPr id="9" name="Text 7"/>
          <p:cNvSpPr txBox="1"/>
          <p:nvPr/>
        </p:nvSpPr>
        <p:spPr>
          <a:xfrm>
            <a:off x="4572000" y="2697480"/>
            <a:ext cx="2926080" cy="960120"/>
          </a:xfrm>
          <a:prstGeom prst="rect">
            <a:avLst/>
          </a:prstGeom>
          <a:noFill/>
          <a:ln/>
        </p:spPr>
        <p:txBody>
          <a:bodyPr wrap="square" lIns="0" tIns="0" rIns="0" bIns="0" rtlCol="0" anchor="t"/>
          <a:lstStyle/>
          <a:p>
            <a:pPr indent="0" marL="0">
              <a:buNone/>
            </a:pPr>
            <a:r>
              <a:rPr lang="en-US" sz="6000" b="1" dirty="0">
                <a:solidFill>
                  <a:srgbClr val="FF8A80"/>
                </a:solidFill>
              </a:rPr>
              <a:t>0</a:t>
            </a:r>
            <a:endParaRPr lang="en-US" sz="6000" dirty="0"/>
          </a:p>
        </p:txBody>
      </p:sp>
      <p:sp>
        <p:nvSpPr>
          <p:cNvPr id="10" name="Text 8"/>
          <p:cNvSpPr txBox="1"/>
          <p:nvPr/>
        </p:nvSpPr>
        <p:spPr>
          <a:xfrm>
            <a:off x="4572000" y="3703320"/>
            <a:ext cx="2926080" cy="685800"/>
          </a:xfrm>
          <a:prstGeom prst="rect">
            <a:avLst/>
          </a:prstGeom>
          <a:noFill/>
          <a:ln/>
        </p:spPr>
        <p:txBody>
          <a:bodyPr wrap="square" lIns="0" tIns="0" rIns="0" bIns="0" rtlCol="0" anchor="t"/>
          <a:lstStyle/>
          <a:p>
            <a:pPr indent="0" marL="0">
              <a:buNone/>
            </a:pPr>
            <a:r>
              <a:rPr lang="en-US" sz="1600" dirty="0">
                <a:solidFill>
                  <a:srgbClr val="FFFFFF"/>
                </a:solidFill>
              </a:rPr>
              <a:t>frauds found by reviewing the 200 largest transactions</a:t>
            </a:r>
            <a:endParaRPr lang="en-US" sz="1600" dirty="0"/>
          </a:p>
        </p:txBody>
      </p:sp>
      <p:sp>
        <p:nvSpPr>
          <p:cNvPr id="11" name="Text 9"/>
          <p:cNvSpPr txBox="1"/>
          <p:nvPr/>
        </p:nvSpPr>
        <p:spPr>
          <a:xfrm>
            <a:off x="4572000" y="4480560"/>
            <a:ext cx="2926080" cy="365760"/>
          </a:xfrm>
          <a:prstGeom prst="rect">
            <a:avLst/>
          </a:prstGeom>
          <a:noFill/>
          <a:ln/>
        </p:spPr>
        <p:txBody>
          <a:bodyPr wrap="square" lIns="0" tIns="0" rIns="0" bIns="0" rtlCol="0" anchor="t"/>
          <a:lstStyle/>
          <a:p>
            <a:pPr indent="0" marL="0">
              <a:buNone/>
            </a:pPr>
            <a:r>
              <a:rPr lang="en-US" sz="1300" i="1" dirty="0">
                <a:solidFill>
                  <a:srgbClr val="9FB0C6"/>
                </a:solidFill>
              </a:rPr>
              <a:t>of 201 on the test day</a:t>
            </a:r>
            <a:endParaRPr lang="en-US" sz="1300" dirty="0"/>
          </a:p>
        </p:txBody>
      </p:sp>
      <p:sp>
        <p:nvSpPr>
          <p:cNvPr id="12" name="stat card 3"/>
          <p:cNvSpPr/>
          <p:nvPr/>
        </p:nvSpPr>
        <p:spPr>
          <a:xfrm>
            <a:off x="8046720" y="2514600"/>
            <a:ext cx="3474720" cy="2514600"/>
          </a:xfrm>
          <a:prstGeom prst="roundRect">
            <a:avLst>
              <a:gd name="adj" fmla="val 4364"/>
            </a:avLst>
          </a:prstGeom>
          <a:solidFill>
            <a:srgbClr val="14294D"/>
          </a:solidFill>
          <a:ln w="12700">
            <a:solidFill>
              <a:srgbClr val="14294D"/>
            </a:solidFill>
            <a:prstDash val="solid"/>
          </a:ln>
        </p:spPr>
      </p:sp>
      <p:sp>
        <p:nvSpPr>
          <p:cNvPr id="13" name="Text 11"/>
          <p:cNvSpPr txBox="1"/>
          <p:nvPr/>
        </p:nvSpPr>
        <p:spPr>
          <a:xfrm>
            <a:off x="8321040" y="2697480"/>
            <a:ext cx="2926080" cy="960120"/>
          </a:xfrm>
          <a:prstGeom prst="rect">
            <a:avLst/>
          </a:prstGeom>
          <a:noFill/>
          <a:ln/>
        </p:spPr>
        <p:txBody>
          <a:bodyPr wrap="square" lIns="0" tIns="0" rIns="0" bIns="0" rtlCol="0" anchor="t"/>
          <a:lstStyle/>
          <a:p>
            <a:pPr indent="0" marL="0">
              <a:buNone/>
            </a:pPr>
            <a:r>
              <a:rPr lang="en-US" sz="6000" b="1" dirty="0">
                <a:solidFill>
                  <a:srgbClr val="FFFFFF"/>
                </a:solidFill>
              </a:rPr>
              <a:t>36%</a:t>
            </a:r>
            <a:endParaRPr lang="en-US" sz="6000" dirty="0"/>
          </a:p>
        </p:txBody>
      </p:sp>
      <p:sp>
        <p:nvSpPr>
          <p:cNvPr id="14" name="Text 12"/>
          <p:cNvSpPr txBox="1"/>
          <p:nvPr/>
        </p:nvSpPr>
        <p:spPr>
          <a:xfrm>
            <a:off x="8321040" y="3703320"/>
            <a:ext cx="2926080" cy="685800"/>
          </a:xfrm>
          <a:prstGeom prst="rect">
            <a:avLst/>
          </a:prstGeom>
          <a:noFill/>
          <a:ln/>
        </p:spPr>
        <p:txBody>
          <a:bodyPr wrap="square" lIns="0" tIns="0" rIns="0" bIns="0" rtlCol="0" anchor="t"/>
          <a:lstStyle/>
          <a:p>
            <a:pPr indent="0" marL="0">
              <a:buNone/>
            </a:pPr>
            <a:r>
              <a:rPr lang="en-US" sz="1600" dirty="0">
                <a:solidFill>
                  <a:srgbClr val="FFFFFF"/>
                </a:solidFill>
              </a:rPr>
              <a:t>of frauds are EUR 1.00 or less</a:t>
            </a:r>
            <a:endParaRPr lang="en-US" sz="1600" dirty="0"/>
          </a:p>
        </p:txBody>
      </p:sp>
      <p:sp>
        <p:nvSpPr>
          <p:cNvPr id="15" name="Text 13"/>
          <p:cNvSpPr txBox="1"/>
          <p:nvPr/>
        </p:nvSpPr>
        <p:spPr>
          <a:xfrm>
            <a:off x="8321040" y="4480560"/>
            <a:ext cx="2926080" cy="365760"/>
          </a:xfrm>
          <a:prstGeom prst="rect">
            <a:avLst/>
          </a:prstGeom>
          <a:noFill/>
          <a:ln/>
        </p:spPr>
        <p:txBody>
          <a:bodyPr wrap="square" lIns="0" tIns="0" rIns="0" bIns="0" rtlCol="0" anchor="t"/>
          <a:lstStyle/>
          <a:p>
            <a:pPr indent="0" marL="0">
              <a:buNone/>
            </a:pPr>
            <a:r>
              <a:rPr lang="en-US" sz="1300" i="1" dirty="0">
                <a:solidFill>
                  <a:srgbClr val="9FB0C6"/>
                </a:solidFill>
              </a:rPr>
              <a:t>card testing hides in small amounts</a:t>
            </a:r>
            <a:endParaRPr lang="en-US" sz="1300" dirty="0"/>
          </a:p>
        </p:txBody>
      </p:sp>
      <p:sp>
        <p:nvSpPr>
          <p:cNvPr id="16" name="Text 14"/>
          <p:cNvSpPr txBox="1"/>
          <p:nvPr/>
        </p:nvSpPr>
        <p:spPr>
          <a:xfrm>
            <a:off x="548640" y="5349240"/>
            <a:ext cx="11064240" cy="731520"/>
          </a:xfrm>
          <a:prstGeom prst="rect">
            <a:avLst/>
          </a:prstGeom>
          <a:noFill/>
          <a:ln/>
        </p:spPr>
        <p:txBody>
          <a:bodyPr wrap="square" lIns="0" tIns="0" rIns="0" bIns="0" rtlCol="0" anchor="t"/>
          <a:lstStyle/>
          <a:p>
            <a:pPr indent="0" marL="0">
              <a:buNone/>
            </a:pPr>
            <a:r>
              <a:rPr lang="en-US" sz="1700" b="1" dirty="0">
                <a:solidFill>
                  <a:srgbClr val="FFFFFF"/>
                </a:solidFill>
              </a:rPr>
              <a:t>The decision to improve: </a:t>
            </a:r>
            <a:pPr indent="0" marL="0">
              <a:buNone/>
            </a:pPr>
            <a:r>
              <a:rPr lang="en-US" sz="1700" dirty="0">
                <a:solidFill>
                  <a:srgbClr val="DCE6F4"/>
                </a:solidFill>
              </a:rPr>
              <a:t>which 200 transactions the analysts review today. Success is frauds caught and money protected with the team the client already has.</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1005840"/>
          </a:xfrm>
          <a:prstGeom prst="rect">
            <a:avLst/>
          </a:prstGeom>
          <a:noFill/>
          <a:ln/>
        </p:spPr>
        <p:txBody>
          <a:bodyPr wrap="square" lIns="0" tIns="0" rIns="0" bIns="0" rtlCol="0" anchor="ctr"/>
          <a:lstStyle/>
          <a:p>
            <a:pPr algn="l" indent="0" marL="0">
              <a:buNone/>
            </a:pPr>
            <a:r>
              <a:rPr lang="en-US" sz="3000" b="1" dirty="0">
                <a:solidFill>
                  <a:schemeClr val="tx2"/>
                </a:solidFill>
              </a:rPr>
              <a:t>On an unseen day, 154 of FraudLens's 200 alerts were real fraud</a:t>
            </a:r>
            <a:endParaRPr lang="en-US" sz="3000" dirty="0"/>
          </a:p>
        </p:txBody>
      </p:sp>
      <p:graphicFrame>
        <p:nvGraphicFramePr>
          <p:cNvPr id="3" name="frauds caught chart" descr=""/>
          <p:cNvGraphicFramePr/>
          <p:nvPr/>
        </p:nvGraphicFramePr>
        <p:xfrm>
          <a:off x="548640" y="1371600"/>
          <a:ext cx="5760720" cy="32461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4709160"/>
            <a:ext cx="5760720" cy="640080"/>
          </a:xfrm>
          <a:prstGeom prst="rect">
            <a:avLst/>
          </a:prstGeom>
          <a:noFill/>
          <a:ln/>
        </p:spPr>
        <p:txBody>
          <a:bodyPr wrap="square" lIns="0" tIns="0" rIns="0" bIns="0" rtlCol="0" anchor="t"/>
          <a:lstStyle/>
          <a:p>
            <a:pPr indent="0" marL="0">
              <a:buNone/>
            </a:pPr>
            <a:r>
              <a:rPr lang="en-US" sz="1400" dirty="0">
                <a:solidFill>
                  <a:srgbClr val="5F6B7A"/>
                </a:solidFill>
              </a:rPr>
              <a:t>Precision 77% (95% range 66%-85%).  Recall 77% of the day's 201 frauds.  EUR 16,428 of fraud caught that day.</a:t>
            </a:r>
            <a:endParaRPr lang="en-US" sz="1400" dirty="0"/>
          </a:p>
        </p:txBody>
      </p:sp>
      <p:sp>
        <p:nvSpPr>
          <p:cNvPr id="5" name="step 1 marker"/>
          <p:cNvSpPr/>
          <p:nvPr/>
        </p:nvSpPr>
        <p:spPr>
          <a:xfrm>
            <a:off x="6766560" y="1408176"/>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6766560" y="14081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7406640" y="1371600"/>
            <a:ext cx="4206240" cy="274320"/>
          </a:xfrm>
          <a:prstGeom prst="rect">
            <a:avLst/>
          </a:prstGeom>
          <a:noFill/>
          <a:ln/>
        </p:spPr>
        <p:txBody>
          <a:bodyPr wrap="square" lIns="0" tIns="0" rIns="0" bIns="0" rtlCol="0" anchor="t"/>
          <a:lstStyle/>
          <a:p>
            <a:pPr indent="0" marL="0">
              <a:buNone/>
            </a:pPr>
            <a:r>
              <a:rPr lang="en-US" sz="1600" b="1" dirty="0">
                <a:solidFill>
                  <a:schemeClr val="tx1"/>
                </a:solidFill>
              </a:rPr>
              <a:t>Score</a:t>
            </a:r>
            <a:endParaRPr lang="en-US" sz="1600" dirty="0"/>
          </a:p>
        </p:txBody>
      </p:sp>
      <p:sp>
        <p:nvSpPr>
          <p:cNvPr id="8" name="Text 5"/>
          <p:cNvSpPr txBox="1"/>
          <p:nvPr/>
        </p:nvSpPr>
        <p:spPr>
          <a:xfrm>
            <a:off x="7406640" y="1655064"/>
            <a:ext cx="4206240" cy="457200"/>
          </a:xfrm>
          <a:prstGeom prst="rect">
            <a:avLst/>
          </a:prstGeom>
          <a:noFill/>
          <a:ln/>
        </p:spPr>
        <p:txBody>
          <a:bodyPr wrap="square" lIns="0" tIns="0" rIns="0" bIns="0" rtlCol="0" anchor="t"/>
          <a:lstStyle/>
          <a:p>
            <a:pPr indent="0" marL="0">
              <a:buNone/>
            </a:pPr>
            <a:r>
              <a:rPr lang="en-US" sz="1200" dirty="0">
                <a:solidFill>
                  <a:srgbClr val="5F6B7A"/>
                </a:solidFill>
              </a:rPr>
              <a:t>XGBoost trained on day 1 only; chosen by cross-validation, tested once on day 2</a:t>
            </a:r>
            <a:endParaRPr lang="en-US" sz="1200" dirty="0"/>
          </a:p>
        </p:txBody>
      </p:sp>
      <p:sp>
        <p:nvSpPr>
          <p:cNvPr id="9" name="step 2 marker"/>
          <p:cNvSpPr/>
          <p:nvPr/>
        </p:nvSpPr>
        <p:spPr>
          <a:xfrm>
            <a:off x="6766560" y="2194560"/>
            <a:ext cx="457200" cy="457200"/>
          </a:xfrm>
          <a:prstGeom prst="ellipse">
            <a:avLst/>
          </a:prstGeom>
          <a:solidFill>
            <a:schemeClr val="accent1"/>
          </a:solidFill>
          <a:ln w="12700">
            <a:solidFill>
              <a:schemeClr val="accent1"/>
            </a:solidFill>
            <a:prstDash val="solid"/>
          </a:ln>
        </p:spPr>
      </p:sp>
      <p:sp>
        <p:nvSpPr>
          <p:cNvPr id="10" name="Text 7"/>
          <p:cNvSpPr txBox="1"/>
          <p:nvPr/>
        </p:nvSpPr>
        <p:spPr>
          <a:xfrm>
            <a:off x="6766560" y="2194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7406640" y="2157984"/>
            <a:ext cx="4206240" cy="274320"/>
          </a:xfrm>
          <a:prstGeom prst="rect">
            <a:avLst/>
          </a:prstGeom>
          <a:noFill/>
          <a:ln/>
        </p:spPr>
        <p:txBody>
          <a:bodyPr wrap="square" lIns="0" tIns="0" rIns="0" bIns="0" rtlCol="0" anchor="t"/>
          <a:lstStyle/>
          <a:p>
            <a:pPr indent="0" marL="0">
              <a:buNone/>
            </a:pPr>
            <a:r>
              <a:rPr lang="en-US" sz="1600" b="1" dirty="0">
                <a:solidFill>
                  <a:schemeClr val="tx1"/>
                </a:solidFill>
              </a:rPr>
              <a:t>Rank to capacity</a:t>
            </a:r>
            <a:endParaRPr lang="en-US" sz="1600" dirty="0"/>
          </a:p>
        </p:txBody>
      </p:sp>
      <p:sp>
        <p:nvSpPr>
          <p:cNvPr id="12" name="Text 9"/>
          <p:cNvSpPr txBox="1"/>
          <p:nvPr/>
        </p:nvSpPr>
        <p:spPr>
          <a:xfrm>
            <a:off x="7406640" y="2441448"/>
            <a:ext cx="4206240" cy="457200"/>
          </a:xfrm>
          <a:prstGeom prst="rect">
            <a:avLst/>
          </a:prstGeom>
          <a:noFill/>
          <a:ln/>
        </p:spPr>
        <p:txBody>
          <a:bodyPr wrap="square" lIns="0" tIns="0" rIns="0" bIns="0" rtlCol="0" anchor="t"/>
          <a:lstStyle/>
          <a:p>
            <a:pPr indent="0" marL="0">
              <a:buNone/>
            </a:pPr>
            <a:r>
              <a:rPr lang="en-US" sz="1200" dirty="0">
                <a:solidFill>
                  <a:srgbClr val="5F6B7A"/>
                </a:solidFill>
              </a:rPr>
              <a:t>The top 200 scores are the queue. No arbitrary threshold</a:t>
            </a:r>
            <a:endParaRPr lang="en-US" sz="1200" dirty="0"/>
          </a:p>
        </p:txBody>
      </p:sp>
      <p:sp>
        <p:nvSpPr>
          <p:cNvPr id="13" name="step 3 marker"/>
          <p:cNvSpPr/>
          <p:nvPr/>
        </p:nvSpPr>
        <p:spPr>
          <a:xfrm>
            <a:off x="6766560" y="2980944"/>
            <a:ext cx="457200" cy="457200"/>
          </a:xfrm>
          <a:prstGeom prst="ellipse">
            <a:avLst/>
          </a:prstGeom>
          <a:solidFill>
            <a:schemeClr val="accent1"/>
          </a:solidFill>
          <a:ln w="12700">
            <a:solidFill>
              <a:schemeClr val="accent1"/>
            </a:solidFill>
            <a:prstDash val="solid"/>
          </a:ln>
        </p:spPr>
      </p:sp>
      <p:sp>
        <p:nvSpPr>
          <p:cNvPr id="14" name="Text 11"/>
          <p:cNvSpPr txBox="1"/>
          <p:nvPr/>
        </p:nvSpPr>
        <p:spPr>
          <a:xfrm>
            <a:off x="6766560" y="29809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7406640" y="2944368"/>
            <a:ext cx="4206240" cy="274320"/>
          </a:xfrm>
          <a:prstGeom prst="rect">
            <a:avLst/>
          </a:prstGeom>
          <a:noFill/>
          <a:ln/>
        </p:spPr>
        <p:txBody>
          <a:bodyPr wrap="square" lIns="0" tIns="0" rIns="0" bIns="0" rtlCol="0" anchor="t"/>
          <a:lstStyle/>
          <a:p>
            <a:pPr indent="0" marL="0">
              <a:buNone/>
            </a:pPr>
            <a:r>
              <a:rPr lang="en-US" sz="1600" b="1" dirty="0">
                <a:solidFill>
                  <a:schemeClr val="tx1"/>
                </a:solidFill>
              </a:rPr>
              <a:t>Explain</a:t>
            </a:r>
            <a:endParaRPr lang="en-US" sz="1600" dirty="0"/>
          </a:p>
        </p:txBody>
      </p:sp>
      <p:sp>
        <p:nvSpPr>
          <p:cNvPr id="16" name="Text 13"/>
          <p:cNvSpPr txBox="1"/>
          <p:nvPr/>
        </p:nvSpPr>
        <p:spPr>
          <a:xfrm>
            <a:off x="7406640" y="3227832"/>
            <a:ext cx="4206240" cy="457200"/>
          </a:xfrm>
          <a:prstGeom prst="rect">
            <a:avLst/>
          </a:prstGeom>
          <a:noFill/>
          <a:ln/>
        </p:spPr>
        <p:txBody>
          <a:bodyPr wrap="square" lIns="0" tIns="0" rIns="0" bIns="0" rtlCol="0" anchor="t"/>
          <a:lstStyle/>
          <a:p>
            <a:pPr indent="0" marL="0">
              <a:buNone/>
            </a:pPr>
            <a:r>
              <a:rPr lang="en-US" sz="1200" dirty="0">
                <a:solidFill>
                  <a:srgbClr val="5F6B7A"/>
                </a:solidFill>
              </a:rPr>
              <a:t>Top 3 reasons per alert from exact SHAP values</a:t>
            </a:r>
            <a:endParaRPr lang="en-US" sz="1200" dirty="0"/>
          </a:p>
        </p:txBody>
      </p:sp>
      <p:sp>
        <p:nvSpPr>
          <p:cNvPr id="17" name="step 4 marker"/>
          <p:cNvSpPr/>
          <p:nvPr/>
        </p:nvSpPr>
        <p:spPr>
          <a:xfrm>
            <a:off x="6766560" y="3767328"/>
            <a:ext cx="457200" cy="457200"/>
          </a:xfrm>
          <a:prstGeom prst="ellipse">
            <a:avLst/>
          </a:prstGeom>
          <a:solidFill>
            <a:schemeClr val="accent1"/>
          </a:solidFill>
          <a:ln w="12700">
            <a:solidFill>
              <a:schemeClr val="accent1"/>
            </a:solidFill>
            <a:prstDash val="solid"/>
          </a:ln>
        </p:spPr>
      </p:sp>
      <p:sp>
        <p:nvSpPr>
          <p:cNvPr id="18" name="Text 15"/>
          <p:cNvSpPr txBox="1"/>
          <p:nvPr/>
        </p:nvSpPr>
        <p:spPr>
          <a:xfrm>
            <a:off x="6766560" y="37673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7406640" y="3730752"/>
            <a:ext cx="4206240" cy="274320"/>
          </a:xfrm>
          <a:prstGeom prst="rect">
            <a:avLst/>
          </a:prstGeom>
          <a:noFill/>
          <a:ln/>
        </p:spPr>
        <p:txBody>
          <a:bodyPr wrap="square" lIns="0" tIns="0" rIns="0" bIns="0" rtlCol="0" anchor="t"/>
          <a:lstStyle/>
          <a:p>
            <a:pPr indent="0" marL="0">
              <a:buNone/>
            </a:pPr>
            <a:r>
              <a:rPr lang="en-US" sz="1600" b="1" dirty="0">
                <a:solidFill>
                  <a:schemeClr val="tx1"/>
                </a:solidFill>
              </a:rPr>
              <a:t>Draft the action</a:t>
            </a:r>
            <a:endParaRPr lang="en-US" sz="1600" dirty="0"/>
          </a:p>
        </p:txBody>
      </p:sp>
      <p:sp>
        <p:nvSpPr>
          <p:cNvPr id="20" name="Text 17"/>
          <p:cNvSpPr txBox="1"/>
          <p:nvPr/>
        </p:nvSpPr>
        <p:spPr>
          <a:xfrm>
            <a:off x="7406640" y="4014216"/>
            <a:ext cx="4206240" cy="457200"/>
          </a:xfrm>
          <a:prstGeom prst="rect">
            <a:avLst/>
          </a:prstGeom>
          <a:noFill/>
          <a:ln/>
        </p:spPr>
        <p:txBody>
          <a:bodyPr wrap="square" lIns="0" tIns="0" rIns="0" bIns="0" rtlCol="0" anchor="t"/>
          <a:lstStyle/>
          <a:p>
            <a:pPr indent="0" marL="0">
              <a:buNone/>
            </a:pPr>
            <a:r>
              <a:rPr lang="en-US" sz="1200" dirty="0">
                <a:solidFill>
                  <a:srgbClr val="5F6B7A"/>
                </a:solidFill>
              </a:rPr>
              <a:t>Rule-based policy + a review note from a template or a local LLM</a:t>
            </a:r>
            <a:endParaRPr lang="en-US" sz="1200" dirty="0"/>
          </a:p>
        </p:txBody>
      </p:sp>
      <p:sp>
        <p:nvSpPr>
          <p:cNvPr id="21" name="step 5 marker"/>
          <p:cNvSpPr/>
          <p:nvPr/>
        </p:nvSpPr>
        <p:spPr>
          <a:xfrm>
            <a:off x="6766560" y="4553712"/>
            <a:ext cx="457200" cy="457200"/>
          </a:xfrm>
          <a:prstGeom prst="ellipse">
            <a:avLst/>
          </a:prstGeom>
          <a:solidFill>
            <a:schemeClr val="accent1"/>
          </a:solidFill>
          <a:ln w="12700">
            <a:solidFill>
              <a:schemeClr val="accent1"/>
            </a:solidFill>
            <a:prstDash val="solid"/>
          </a:ln>
        </p:spPr>
      </p:sp>
      <p:sp>
        <p:nvSpPr>
          <p:cNvPr id="22" name="Text 19"/>
          <p:cNvSpPr txBox="1"/>
          <p:nvPr/>
        </p:nvSpPr>
        <p:spPr>
          <a:xfrm>
            <a:off x="6766560" y="45537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3" name="Text 20"/>
          <p:cNvSpPr txBox="1"/>
          <p:nvPr/>
        </p:nvSpPr>
        <p:spPr>
          <a:xfrm>
            <a:off x="7406640" y="4517136"/>
            <a:ext cx="4206240" cy="274320"/>
          </a:xfrm>
          <a:prstGeom prst="rect">
            <a:avLst/>
          </a:prstGeom>
          <a:noFill/>
          <a:ln/>
        </p:spPr>
        <p:txBody>
          <a:bodyPr wrap="square" lIns="0" tIns="0" rIns="0" bIns="0" rtlCol="0" anchor="t"/>
          <a:lstStyle/>
          <a:p>
            <a:pPr indent="0" marL="0">
              <a:buNone/>
            </a:pPr>
            <a:r>
              <a:rPr lang="en-US" sz="1600" b="1" dirty="0">
                <a:solidFill>
                  <a:schemeClr val="tx1"/>
                </a:solidFill>
              </a:rPr>
              <a:t>Wait for a human</a:t>
            </a:r>
            <a:endParaRPr lang="en-US" sz="1600" dirty="0"/>
          </a:p>
        </p:txBody>
      </p:sp>
      <p:sp>
        <p:nvSpPr>
          <p:cNvPr id="24" name="Text 21"/>
          <p:cNvSpPr txBox="1"/>
          <p:nvPr/>
        </p:nvSpPr>
        <p:spPr>
          <a:xfrm>
            <a:off x="7406640" y="4800600"/>
            <a:ext cx="4206240" cy="457200"/>
          </a:xfrm>
          <a:prstGeom prst="rect">
            <a:avLst/>
          </a:prstGeom>
          <a:noFill/>
          <a:ln/>
        </p:spPr>
        <p:txBody>
          <a:bodyPr wrap="square" lIns="0" tIns="0" rIns="0" bIns="0" rtlCol="0" anchor="t"/>
          <a:lstStyle/>
          <a:p>
            <a:pPr indent="0" marL="0">
              <a:buNone/>
            </a:pPr>
            <a:r>
              <a:rPr lang="en-US" sz="1200" dirty="0">
                <a:solidFill>
                  <a:srgbClr val="5F6B7A"/>
                </a:solidFill>
              </a:rPr>
              <a:t>Every action is PENDING_APPROVAL until an analyst approves; all logged</a:t>
            </a:r>
            <a:endParaRPr lang="en-US" sz="1200" dirty="0"/>
          </a:p>
        </p:txBody>
      </p:sp>
      <p:sp>
        <p:nvSpPr>
          <p:cNvPr id="25" name="trap callout"/>
          <p:cNvSpPr/>
          <p:nvPr/>
        </p:nvSpPr>
        <p:spPr>
          <a:xfrm>
            <a:off x="548640" y="5440680"/>
            <a:ext cx="11064240" cy="777240"/>
          </a:xfrm>
          <a:prstGeom prst="roundRect">
            <a:avLst>
              <a:gd name="adj" fmla="val 14118"/>
            </a:avLst>
          </a:prstGeom>
          <a:solidFill>
            <a:schemeClr val="bg2"/>
          </a:solidFill>
          <a:ln w="12700">
            <a:solidFill>
              <a:schemeClr val="bg2"/>
            </a:solidFill>
            <a:prstDash val="solid"/>
          </a:ln>
        </p:spPr>
      </p:sp>
      <p:sp>
        <p:nvSpPr>
          <p:cNvPr id="26" name="Text 23"/>
          <p:cNvSpPr txBox="1"/>
          <p:nvPr/>
        </p:nvSpPr>
        <p:spPr>
          <a:xfrm>
            <a:off x="777240" y="5513832"/>
            <a:ext cx="10607040" cy="640080"/>
          </a:xfrm>
          <a:prstGeom prst="rect">
            <a:avLst/>
          </a:prstGeom>
          <a:noFill/>
          <a:ln/>
        </p:spPr>
        <p:txBody>
          <a:bodyPr wrap="square" lIns="0" tIns="0" rIns="0" bIns="0" rtlCol="0" anchor="ctr"/>
          <a:lstStyle/>
          <a:p>
            <a:pPr indent="0" marL="0">
              <a:buNone/>
            </a:pPr>
            <a:r>
              <a:rPr lang="en-US" sz="1400" b="1" dirty="0">
                <a:solidFill>
                  <a:srgbClr val="0D366B"/>
                </a:solidFill>
              </a:rPr>
              <a:t>Traps found and handled: </a:t>
            </a:r>
            <a:pPr indent="0" marL="0">
              <a:buNone/>
            </a:pPr>
            <a:r>
              <a:rPr lang="en-US" sz="1400" dirty="0">
                <a:solidFill>
                  <a:srgbClr val="0B1B33"/>
                </a:solidFill>
              </a:rPr>
              <a:t>1,081 duplicate rows removed before splitting. SMOTE before the split reports PR-AUC 0.9999; done correctly it is 0.760. ROC-AUC flatters every model (0.94 to 0.98), so PR-AUC is the headline.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1005840"/>
          </a:xfrm>
          <a:prstGeom prst="rect">
            <a:avLst/>
          </a:prstGeom>
          <a:noFill/>
          <a:ln/>
        </p:spPr>
        <p:txBody>
          <a:bodyPr wrap="square" lIns="0" tIns="0" rIns="0" bIns="0" rtlCol="0" anchor="ctr"/>
          <a:lstStyle/>
          <a:p>
            <a:pPr algn="l" indent="0" marL="0">
              <a:buNone/>
            </a:pPr>
            <a:r>
              <a:rPr lang="en-US" sz="3000" b="1" dirty="0">
                <a:solidFill>
                  <a:schemeClr val="tx2"/>
                </a:solidFill>
              </a:rPr>
              <a:t>Same team, same 200 reviews: three alerts in four are now real fraud</a:t>
            </a:r>
            <a:endParaRPr lang="en-US" sz="3000" dirty="0"/>
          </a:p>
        </p:txBody>
      </p:sp>
      <p:sp>
        <p:nvSpPr>
          <p:cNvPr id="3" name="value card 1"/>
          <p:cNvSpPr/>
          <p:nvPr/>
        </p:nvSpPr>
        <p:spPr>
          <a:xfrm>
            <a:off x="548640" y="1417320"/>
            <a:ext cx="2606040" cy="2286000"/>
          </a:xfrm>
          <a:prstGeom prst="roundRect">
            <a:avLst>
              <a:gd name="adj" fmla="val 4800"/>
            </a:avLst>
          </a:prstGeom>
          <a:solidFill>
            <a:schemeClr val="bg2"/>
          </a:solidFill>
          <a:ln w="12700">
            <a:solidFill>
              <a:schemeClr val="bg2"/>
            </a:solidFill>
            <a:prstDash val="solid"/>
          </a:ln>
        </p:spPr>
      </p:sp>
      <p:sp>
        <p:nvSpPr>
          <p:cNvPr id="4" name="Text 2"/>
          <p:cNvSpPr txBox="1"/>
          <p:nvPr/>
        </p:nvSpPr>
        <p:spPr>
          <a:xfrm>
            <a:off x="749808" y="1572768"/>
            <a:ext cx="2240280" cy="777240"/>
          </a:xfrm>
          <a:prstGeom prst="rect">
            <a:avLst/>
          </a:prstGeom>
          <a:noFill/>
          <a:ln/>
        </p:spPr>
        <p:txBody>
          <a:bodyPr wrap="square" lIns="0" tIns="0" rIns="0" bIns="0" rtlCol="0" anchor="t"/>
          <a:lstStyle/>
          <a:p>
            <a:pPr indent="0" marL="0">
              <a:buNone/>
            </a:pPr>
            <a:r>
              <a:rPr lang="en-US" sz="4400" b="1" dirty="0">
                <a:solidFill>
                  <a:schemeClr val="accent1"/>
                </a:solidFill>
              </a:rPr>
              <a:t>154</a:t>
            </a:r>
            <a:endParaRPr lang="en-US" sz="4400" dirty="0"/>
          </a:p>
        </p:txBody>
      </p:sp>
      <p:sp>
        <p:nvSpPr>
          <p:cNvPr id="5" name="Text 3"/>
          <p:cNvSpPr txBox="1"/>
          <p:nvPr/>
        </p:nvSpPr>
        <p:spPr>
          <a:xfrm>
            <a:off x="749808" y="2377440"/>
            <a:ext cx="2240280" cy="457200"/>
          </a:xfrm>
          <a:prstGeom prst="rect">
            <a:avLst/>
          </a:prstGeom>
          <a:noFill/>
          <a:ln/>
        </p:spPr>
        <p:txBody>
          <a:bodyPr wrap="square" lIns="0" tIns="0" rIns="0" bIns="0" rtlCol="0" anchor="t"/>
          <a:lstStyle/>
          <a:p>
            <a:pPr indent="0" marL="0">
              <a:buNone/>
            </a:pPr>
            <a:r>
              <a:rPr lang="en-US" sz="1500" b="1" dirty="0">
                <a:solidFill>
                  <a:schemeClr val="tx1"/>
                </a:solidFill>
              </a:rPr>
              <a:t>frauds caught a day</a:t>
            </a:r>
            <a:endParaRPr lang="en-US" sz="1500" dirty="0"/>
          </a:p>
        </p:txBody>
      </p:sp>
      <p:sp>
        <p:nvSpPr>
          <p:cNvPr id="6" name="Text 4"/>
          <p:cNvSpPr txBox="1"/>
          <p:nvPr/>
        </p:nvSpPr>
        <p:spPr>
          <a:xfrm>
            <a:off x="749808" y="2852928"/>
            <a:ext cx="2240280" cy="731520"/>
          </a:xfrm>
          <a:prstGeom prst="rect">
            <a:avLst/>
          </a:prstGeom>
          <a:noFill/>
          <a:ln/>
        </p:spPr>
        <p:txBody>
          <a:bodyPr wrap="square" lIns="0" tIns="0" rIns="0" bIns="0" rtlCol="0" anchor="t"/>
          <a:lstStyle/>
          <a:p>
            <a:pPr indent="0" marL="0">
              <a:buNone/>
            </a:pPr>
            <a:r>
              <a:rPr lang="en-US" sz="1200" dirty="0">
                <a:solidFill>
                  <a:srgbClr val="5F6B7A"/>
                </a:solidFill>
              </a:rPr>
              <a:t>against 0 by largest amount, with no extra headcount</a:t>
            </a:r>
            <a:endParaRPr lang="en-US" sz="1200" dirty="0"/>
          </a:p>
        </p:txBody>
      </p:sp>
      <p:sp>
        <p:nvSpPr>
          <p:cNvPr id="7" name="value card 2"/>
          <p:cNvSpPr/>
          <p:nvPr/>
        </p:nvSpPr>
        <p:spPr>
          <a:xfrm>
            <a:off x="3364992" y="1417320"/>
            <a:ext cx="2606040" cy="2286000"/>
          </a:xfrm>
          <a:prstGeom prst="roundRect">
            <a:avLst>
              <a:gd name="adj" fmla="val 4800"/>
            </a:avLst>
          </a:prstGeom>
          <a:solidFill>
            <a:schemeClr val="bg2"/>
          </a:solidFill>
          <a:ln w="12700">
            <a:solidFill>
              <a:schemeClr val="bg2"/>
            </a:solidFill>
            <a:prstDash val="solid"/>
          </a:ln>
        </p:spPr>
      </p:sp>
      <p:sp>
        <p:nvSpPr>
          <p:cNvPr id="8" name="Text 6"/>
          <p:cNvSpPr txBox="1"/>
          <p:nvPr/>
        </p:nvSpPr>
        <p:spPr>
          <a:xfrm>
            <a:off x="3566160" y="1572768"/>
            <a:ext cx="2240280" cy="777240"/>
          </a:xfrm>
          <a:prstGeom prst="rect">
            <a:avLst/>
          </a:prstGeom>
          <a:noFill/>
          <a:ln/>
        </p:spPr>
        <p:txBody>
          <a:bodyPr wrap="square" lIns="0" tIns="0" rIns="0" bIns="0" rtlCol="0" anchor="t"/>
          <a:lstStyle/>
          <a:p>
            <a:pPr indent="0" marL="0">
              <a:buNone/>
            </a:pPr>
            <a:r>
              <a:rPr lang="en-US" sz="4400" b="1" dirty="0">
                <a:solidFill>
                  <a:schemeClr val="accent1"/>
                </a:solidFill>
              </a:rPr>
              <a:t>97%</a:t>
            </a:r>
            <a:endParaRPr lang="en-US" sz="4400" dirty="0"/>
          </a:p>
        </p:txBody>
      </p:sp>
      <p:sp>
        <p:nvSpPr>
          <p:cNvPr id="9" name="Text 7"/>
          <p:cNvSpPr txBox="1"/>
          <p:nvPr/>
        </p:nvSpPr>
        <p:spPr>
          <a:xfrm>
            <a:off x="3566160" y="2377440"/>
            <a:ext cx="2240280" cy="457200"/>
          </a:xfrm>
          <a:prstGeom prst="rect">
            <a:avLst/>
          </a:prstGeom>
          <a:noFill/>
          <a:ln/>
        </p:spPr>
        <p:txBody>
          <a:bodyPr wrap="square" lIns="0" tIns="0" rIns="0" bIns="0" rtlCol="0" anchor="t"/>
          <a:lstStyle/>
          <a:p>
            <a:pPr indent="0" marL="0">
              <a:buNone/>
            </a:pPr>
            <a:r>
              <a:rPr lang="en-US" sz="1500" b="1" dirty="0">
                <a:solidFill>
                  <a:schemeClr val="tx1"/>
                </a:solidFill>
              </a:rPr>
              <a:t>of CRITICAL alerts are fraud</a:t>
            </a:r>
            <a:endParaRPr lang="en-US" sz="1500" dirty="0"/>
          </a:p>
        </p:txBody>
      </p:sp>
      <p:sp>
        <p:nvSpPr>
          <p:cNvPr id="10" name="Text 8"/>
          <p:cNvSpPr txBox="1"/>
          <p:nvPr/>
        </p:nvSpPr>
        <p:spPr>
          <a:xfrm>
            <a:off x="3566160" y="2852928"/>
            <a:ext cx="2240280" cy="731520"/>
          </a:xfrm>
          <a:prstGeom prst="rect">
            <a:avLst/>
          </a:prstGeom>
          <a:noFill/>
          <a:ln/>
        </p:spPr>
        <p:txBody>
          <a:bodyPr wrap="square" lIns="0" tIns="0" rIns="0" bIns="0" rtlCol="0" anchor="t"/>
          <a:lstStyle/>
          <a:p>
            <a:pPr indent="0" marL="0">
              <a:buNone/>
            </a:pPr>
            <a:r>
              <a:rPr lang="en-US" sz="1200" dirty="0">
                <a:solidFill>
                  <a:srgbClr val="5F6B7A"/>
                </a:solidFill>
              </a:rPr>
              <a:t>81% of HIGH, 42% of ELEVATED: the band sets the scrutiny</a:t>
            </a:r>
            <a:endParaRPr lang="en-US" sz="1200" dirty="0"/>
          </a:p>
        </p:txBody>
      </p:sp>
      <p:sp>
        <p:nvSpPr>
          <p:cNvPr id="11" name="value card 3"/>
          <p:cNvSpPr/>
          <p:nvPr/>
        </p:nvSpPr>
        <p:spPr>
          <a:xfrm>
            <a:off x="6181344" y="1417320"/>
            <a:ext cx="2606040" cy="2286000"/>
          </a:xfrm>
          <a:prstGeom prst="roundRect">
            <a:avLst>
              <a:gd name="adj" fmla="val 4800"/>
            </a:avLst>
          </a:prstGeom>
          <a:solidFill>
            <a:schemeClr val="bg2"/>
          </a:solidFill>
          <a:ln w="12700">
            <a:solidFill>
              <a:schemeClr val="bg2"/>
            </a:solidFill>
            <a:prstDash val="solid"/>
          </a:ln>
        </p:spPr>
      </p:sp>
      <p:sp>
        <p:nvSpPr>
          <p:cNvPr id="12" name="Text 10"/>
          <p:cNvSpPr txBox="1"/>
          <p:nvPr/>
        </p:nvSpPr>
        <p:spPr>
          <a:xfrm>
            <a:off x="6382512" y="1572768"/>
            <a:ext cx="2240280" cy="777240"/>
          </a:xfrm>
          <a:prstGeom prst="rect">
            <a:avLst/>
          </a:prstGeom>
          <a:noFill/>
          <a:ln/>
        </p:spPr>
        <p:txBody>
          <a:bodyPr wrap="square" lIns="0" tIns="0" rIns="0" bIns="0" rtlCol="0" anchor="t"/>
          <a:lstStyle/>
          <a:p>
            <a:pPr indent="0" marL="0">
              <a:buNone/>
            </a:pPr>
            <a:r>
              <a:rPr lang="en-US" sz="4400" b="1" dirty="0">
                <a:solidFill>
                  <a:schemeClr val="accent1"/>
                </a:solidFill>
              </a:rPr>
              <a:t>+5</a:t>
            </a:r>
            <a:endParaRPr lang="en-US" sz="4400" dirty="0"/>
          </a:p>
        </p:txBody>
      </p:sp>
      <p:sp>
        <p:nvSpPr>
          <p:cNvPr id="13" name="Text 11"/>
          <p:cNvSpPr txBox="1"/>
          <p:nvPr/>
        </p:nvSpPr>
        <p:spPr>
          <a:xfrm>
            <a:off x="6382512" y="2377440"/>
            <a:ext cx="2240280" cy="457200"/>
          </a:xfrm>
          <a:prstGeom prst="rect">
            <a:avLst/>
          </a:prstGeom>
          <a:noFill/>
          <a:ln/>
        </p:spPr>
        <p:txBody>
          <a:bodyPr wrap="square" lIns="0" tIns="0" rIns="0" bIns="0" rtlCol="0" anchor="t"/>
          <a:lstStyle/>
          <a:p>
            <a:pPr indent="0" marL="0">
              <a:buNone/>
            </a:pPr>
            <a:r>
              <a:rPr lang="en-US" sz="1500" b="1" dirty="0">
                <a:solidFill>
                  <a:schemeClr val="tx1"/>
                </a:solidFill>
              </a:rPr>
              <a:t>frauds per 100 extra reviews</a:t>
            </a:r>
            <a:endParaRPr lang="en-US" sz="1500" dirty="0"/>
          </a:p>
        </p:txBody>
      </p:sp>
      <p:sp>
        <p:nvSpPr>
          <p:cNvPr id="14" name="Text 12"/>
          <p:cNvSpPr txBox="1"/>
          <p:nvPr/>
        </p:nvSpPr>
        <p:spPr>
          <a:xfrm>
            <a:off x="6382512" y="2852928"/>
            <a:ext cx="2240280" cy="731520"/>
          </a:xfrm>
          <a:prstGeom prst="rect">
            <a:avLst/>
          </a:prstGeom>
          <a:noFill/>
          <a:ln/>
        </p:spPr>
        <p:txBody>
          <a:bodyPr wrap="square" lIns="0" tIns="0" rIns="0" bIns="0" rtlCol="0" anchor="t"/>
          <a:lstStyle/>
          <a:p>
            <a:pPr indent="0" marL="0">
              <a:buNone/>
            </a:pPr>
            <a:r>
              <a:rPr lang="en-US" sz="1200" dirty="0">
                <a:solidFill>
                  <a:srgbClr val="5F6B7A"/>
                </a:solidFill>
              </a:rPr>
              <a:t>200 is near the knee: better signals beat more reviewers</a:t>
            </a:r>
            <a:endParaRPr lang="en-US" sz="1200" dirty="0"/>
          </a:p>
        </p:txBody>
      </p:sp>
      <p:sp>
        <p:nvSpPr>
          <p:cNvPr id="15" name="value card 4"/>
          <p:cNvSpPr/>
          <p:nvPr/>
        </p:nvSpPr>
        <p:spPr>
          <a:xfrm>
            <a:off x="8997696" y="1417320"/>
            <a:ext cx="2606040" cy="2286000"/>
          </a:xfrm>
          <a:prstGeom prst="roundRect">
            <a:avLst>
              <a:gd name="adj" fmla="val 4800"/>
            </a:avLst>
          </a:prstGeom>
          <a:solidFill>
            <a:schemeClr val="bg2"/>
          </a:solidFill>
          <a:ln w="12700">
            <a:solidFill>
              <a:schemeClr val="bg2"/>
            </a:solidFill>
            <a:prstDash val="solid"/>
          </a:ln>
        </p:spPr>
      </p:sp>
      <p:sp>
        <p:nvSpPr>
          <p:cNvPr id="16" name="Text 14"/>
          <p:cNvSpPr txBox="1"/>
          <p:nvPr/>
        </p:nvSpPr>
        <p:spPr>
          <a:xfrm>
            <a:off x="9198864" y="1572768"/>
            <a:ext cx="2240280" cy="777240"/>
          </a:xfrm>
          <a:prstGeom prst="rect">
            <a:avLst/>
          </a:prstGeom>
          <a:noFill/>
          <a:ln/>
        </p:spPr>
        <p:txBody>
          <a:bodyPr wrap="square" lIns="0" tIns="0" rIns="0" bIns="0" rtlCol="0" anchor="t"/>
          <a:lstStyle/>
          <a:p>
            <a:pPr indent="0" marL="0">
              <a:buNone/>
            </a:pPr>
            <a:r>
              <a:rPr lang="en-US" sz="4400" b="1" dirty="0">
                <a:solidFill>
                  <a:schemeClr val="accent1"/>
                </a:solidFill>
              </a:rPr>
              <a:t>20 of 46</a:t>
            </a:r>
            <a:endParaRPr lang="en-US" sz="4400" dirty="0"/>
          </a:p>
        </p:txBody>
      </p:sp>
      <p:sp>
        <p:nvSpPr>
          <p:cNvPr id="17" name="Text 15"/>
          <p:cNvSpPr txBox="1"/>
          <p:nvPr/>
        </p:nvSpPr>
        <p:spPr>
          <a:xfrm>
            <a:off x="9198864" y="2377440"/>
            <a:ext cx="2240280" cy="457200"/>
          </a:xfrm>
          <a:prstGeom prst="rect">
            <a:avLst/>
          </a:prstGeom>
          <a:noFill/>
          <a:ln/>
        </p:spPr>
        <p:txBody>
          <a:bodyPr wrap="square" lIns="0" tIns="0" rIns="0" bIns="0" rtlCol="0" anchor="t"/>
          <a:lstStyle/>
          <a:p>
            <a:pPr indent="0" marL="0">
              <a:buNone/>
            </a:pPr>
            <a:r>
              <a:rPr lang="en-US" sz="1500" b="1" dirty="0">
                <a:solidFill>
                  <a:schemeClr val="tx1"/>
                </a:solidFill>
              </a:rPr>
              <a:t>false alarms are one pattern</a:t>
            </a:r>
            <a:endParaRPr lang="en-US" sz="1500" dirty="0"/>
          </a:p>
        </p:txBody>
      </p:sp>
      <p:sp>
        <p:nvSpPr>
          <p:cNvPr id="18" name="Text 16"/>
          <p:cNvSpPr txBox="1"/>
          <p:nvPr/>
        </p:nvSpPr>
        <p:spPr>
          <a:xfrm>
            <a:off x="9198864" y="2852928"/>
            <a:ext cx="2240280" cy="731520"/>
          </a:xfrm>
          <a:prstGeom prst="rect">
            <a:avLst/>
          </a:prstGeom>
          <a:noFill/>
          <a:ln/>
        </p:spPr>
        <p:txBody>
          <a:bodyPr wrap="square" lIns="0" tIns="0" rIns="0" bIns="0" rtlCol="0" anchor="t"/>
          <a:lstStyle/>
          <a:p>
            <a:pPr indent="0" marL="0">
              <a:buNone/>
            </a:pPr>
            <a:r>
              <a:rPr lang="en-US" sz="1200" dirty="0">
                <a:solidFill>
                  <a:srgbClr val="5F6B7A"/>
                </a:solidFill>
              </a:rPr>
              <a:t>EUR 0.77 look-alikes: one ruling frees 10% of capacity</a:t>
            </a:r>
            <a:endParaRPr lang="en-US" sz="1200" dirty="0"/>
          </a:p>
        </p:txBody>
      </p:sp>
      <p:sp>
        <p:nvSpPr>
          <p:cNvPr id="19" name="Text 17"/>
          <p:cNvSpPr txBox="1"/>
          <p:nvPr/>
        </p:nvSpPr>
        <p:spPr>
          <a:xfrm>
            <a:off x="548640" y="3977640"/>
            <a:ext cx="5303520" cy="320040"/>
          </a:xfrm>
          <a:prstGeom prst="rect">
            <a:avLst/>
          </a:prstGeom>
          <a:noFill/>
          <a:ln/>
        </p:spPr>
        <p:txBody>
          <a:bodyPr wrap="square" lIns="0" tIns="0" rIns="0" bIns="0" rtlCol="0" anchor="t"/>
          <a:lstStyle/>
          <a:p>
            <a:pPr indent="0" marL="0">
              <a:buNone/>
            </a:pPr>
            <a:r>
              <a:rPr lang="en-US" sz="1800" b="1" dirty="0">
                <a:solidFill>
                  <a:schemeClr val="tx2"/>
                </a:solidFill>
              </a:rPr>
              <a:t>Safe to adopt</a:t>
            </a:r>
            <a:endParaRPr lang="en-US" sz="1800" dirty="0"/>
          </a:p>
        </p:txBody>
      </p:sp>
      <p:sp>
        <p:nvSpPr>
          <p:cNvPr id="20" name="Text 18"/>
          <p:cNvSpPr txBox="1"/>
          <p:nvPr/>
        </p:nvSpPr>
        <p:spPr>
          <a:xfrm>
            <a:off x="548640" y="4370832"/>
            <a:ext cx="530352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The agent drafts; a person approves. Every decision is in the audit log</a:t>
            </a:r>
            <a:endParaRPr lang="en-US" sz="1400" dirty="0"/>
          </a:p>
          <a:p>
            <a:pPr marL="342900" indent="-342900">
              <a:spcAft>
                <a:spcPts val="600"/>
              </a:spcAft>
              <a:buSzPct val="100000"/>
              <a:buChar char="•"/>
            </a:pPr>
            <a:r>
              <a:rPr lang="en-US" sz="1400" dirty="0">
                <a:solidFill>
                  <a:schemeClr val="tx1"/>
                </a:solidFill>
              </a:rPr>
              <a:t>The local LLM only rephrases given facts; a draft with any unsupported number is rejected</a:t>
            </a:r>
            <a:endParaRPr lang="en-US" sz="1400" dirty="0"/>
          </a:p>
          <a:p>
            <a:pPr marL="342900" indent="-342900">
              <a:spcAft>
                <a:spcPts val="600"/>
              </a:spcAft>
              <a:buSzPct val="100000"/>
              <a:buChar char="•"/>
            </a:pPr>
            <a:r>
              <a:rPr lang="en-US" sz="1400" dirty="0">
                <a:solidFill>
                  <a:schemeClr val="tx1"/>
                </a:solidFill>
              </a:rPr>
              <a:t>Free and open source end to end; runs offline on a laptop</a:t>
            </a:r>
            <a:endParaRPr lang="en-US" sz="1400" dirty="0"/>
          </a:p>
          <a:p>
            <a:pPr marL="342900" indent="-342900">
              <a:spcAft>
                <a:spcPts val="600"/>
              </a:spcAft>
              <a:buSzPct val="100000"/>
              <a:buChar char="•"/>
            </a:pPr>
            <a:r>
              <a:rPr lang="en-US" sz="1400" dirty="0">
                <a:solidFill>
                  <a:schemeClr val="tx1"/>
                </a:solidFill>
              </a:rPr>
              <a:t>20 automated tests, MLflow tracking, a scoring API</a:t>
            </a:r>
            <a:endParaRPr lang="en-US" sz="1400" dirty="0"/>
          </a:p>
        </p:txBody>
      </p:sp>
      <p:sp>
        <p:nvSpPr>
          <p:cNvPr id="21" name="Text 19"/>
          <p:cNvSpPr txBox="1"/>
          <p:nvPr/>
        </p:nvSpPr>
        <p:spPr>
          <a:xfrm>
            <a:off x="6309360" y="3977640"/>
            <a:ext cx="5303520" cy="320040"/>
          </a:xfrm>
          <a:prstGeom prst="rect">
            <a:avLst/>
          </a:prstGeom>
          <a:noFill/>
          <a:ln/>
        </p:spPr>
        <p:txBody>
          <a:bodyPr wrap="square" lIns="0" tIns="0" rIns="0" bIns="0" rtlCol="0" anchor="t"/>
          <a:lstStyle/>
          <a:p>
            <a:pPr indent="0" marL="0">
              <a:buNone/>
            </a:pPr>
            <a:r>
              <a:rPr lang="en-US" sz="1800" b="1" dirty="0">
                <a:solidFill>
                  <a:schemeClr val="tx2"/>
                </a:solidFill>
              </a:rPr>
              <a:t>What we would do next</a:t>
            </a:r>
            <a:endParaRPr lang="en-US" sz="1800" dirty="0"/>
          </a:p>
        </p:txBody>
      </p:sp>
      <p:sp>
        <p:nvSpPr>
          <p:cNvPr id="22" name="Text 20"/>
          <p:cNvSpPr txBox="1"/>
          <p:nvPr/>
        </p:nvSpPr>
        <p:spPr>
          <a:xfrm>
            <a:off x="6309360" y="4370832"/>
            <a:ext cx="530352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Retrain on analyst decisions, which are already stored as labels</a:t>
            </a:r>
            <a:endParaRPr lang="en-US" sz="1400" dirty="0"/>
          </a:p>
          <a:p>
            <a:pPr marL="342900" indent="-342900">
              <a:spcAft>
                <a:spcPts val="600"/>
              </a:spcAft>
              <a:buSzPct val="100000"/>
              <a:buChar char="•"/>
            </a:pPr>
            <a:r>
              <a:rPr lang="en-US" sz="1400" dirty="0">
                <a:solidFill>
                  <a:schemeClr val="tx1"/>
                </a:solidFill>
              </a:rPr>
              <a:t>Monitor drift: day 2 was harder than day 1 (PR-AUC 0.88 in cross-validation, 0.77 on the new day)</a:t>
            </a:r>
            <a:endParaRPr lang="en-US" sz="1400" dirty="0"/>
          </a:p>
          <a:p>
            <a:pPr marL="342900" indent="-342900">
              <a:spcAft>
                <a:spcPts val="600"/>
              </a:spcAft>
              <a:buSzPct val="100000"/>
              <a:buChar char="•"/>
            </a:pPr>
            <a:r>
              <a:rPr lang="en-US" sz="1400" dirty="0">
                <a:solidFill>
                  <a:schemeClr val="tx1"/>
                </a:solidFill>
              </a:rPr>
              <a:t>Group look-alike alerts so one decision clears a pattern</a:t>
            </a:r>
            <a:endParaRPr lang="en-US" sz="1400" dirty="0"/>
          </a:p>
          <a:p>
            <a:pPr marL="342900" indent="-342900">
              <a:spcAft>
                <a:spcPts val="600"/>
              </a:spcAft>
              <a:buSzPct val="100000"/>
              <a:buChar char="•"/>
            </a:pPr>
            <a:r>
              <a:rPr lang="en-US" sz="1400" dirty="0">
                <a:solidFill>
                  <a:schemeClr val="tx1"/>
                </a:solidFill>
              </a:rPr>
              <a:t>Add card-level velocity features, usually the strongest fraud signal</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FraudLens">
  <a:themeElements>
    <a:clrScheme name="FraudLens">
      <a:dk1>
        <a:srgbClr val="0B1B33"/>
      </a:dk1>
      <a:lt1>
        <a:srgbClr val="FFFFFF"/>
      </a:lt1>
      <a:dk2>
        <a:srgbClr val="0D366B"/>
      </a:dk2>
      <a:lt2>
        <a:srgbClr val="EEF3FA"/>
      </a:lt2>
      <a:accent1>
        <a:srgbClr val="2A78D6"/>
      </a:accent1>
      <a:accent2>
        <a:srgbClr val="D03B3B"/>
      </a:accent2>
      <a:accent3>
        <a:srgbClr val="1BAF7A"/>
      </a:accent3>
      <a:accent4>
        <a:srgbClr val="EDA100"/>
      </a:accent4>
      <a:accent5>
        <a:srgbClr val="6250D6"/>
      </a:accent5>
      <a:accent6>
        <a:srgbClr val="898781"/>
      </a:accent6>
      <a:hlink>
        <a:srgbClr val="2A78D6"/>
      </a:hlink>
      <a:folHlink>
        <a:srgbClr val="6250D6"/>
      </a:folHlink>
    </a:clrScheme>
    <a:fontScheme name="FraudLen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FraudLens pitch</dc:title>
  <dc:subject>PptxGenJS Presentation</dc:subject>
  <dc:creator>FraudLens team</dc:creator>
  <cp:lastModifiedBy>FraudLens team</cp:lastModifiedBy>
  <cp:revision>1</cp:revision>
  <dcterms:created xsi:type="dcterms:W3CDTF">2026-10-10T07:38:20Z</dcterms:created>
  <dcterms:modified xsi:type="dcterms:W3CDTF">2026-10-10T07:38:20Z</dcterms:modified>
</cp:coreProperties>
</file>